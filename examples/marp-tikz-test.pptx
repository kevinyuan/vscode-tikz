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747720" y="2765880"/>
            <a:ext cx="4641120" cy="623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3480" b="1" u="none" strike="noStrike">
                <a:solidFill>
                  <a:srgbClr val="224466"/>
                </a:solidFill>
                <a:effectLst/>
                <a:uFillTx/>
                <a:latin typeface=".SFNS-Regular_wdth_opsz2E6666_GRAD_wght2580000"/>
                <a:ea typeface=".SFNS-Regular_wdth_opsz2E6666_GRAD_wght2580000"/>
              </a:rPr>
              <a:t>TikZ in Marp Slides</a:t>
            </a:r>
            <a:endParaRPr lang="en-GB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"/>
          <p:cNvSpPr txBox="1"/>
          <p:nvPr/>
        </p:nvSpPr>
        <p:spPr>
          <a:xfrm>
            <a:off x="747720" y="3648240"/>
            <a:ext cx="578052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Testing TikZ rendering inside Marp slide decks.</a:t>
            </a:r>
            <a:endParaRPr lang="en-GB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747720" y="1825920"/>
            <a:ext cx="2678760" cy="50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2830" b="1" u="none" strike="noStrike">
                <a:solidFill>
                  <a:srgbClr val="1F2328"/>
                </a:solidFill>
                <a:effectLst/>
                <a:uFillTx/>
                <a:latin typeface=".SFNS-Regular_wdth_opsz25B333_GRAD_wght2580000"/>
                <a:ea typeface=".SFNS-Regular_wdth_opsz25B333_GRAD_wght2580000"/>
              </a:rPr>
              <a:t>Simple Shape</a:t>
            </a:r>
            <a:endParaRPr lang="en-GB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"/>
          <p:cNvSpPr/>
          <p:nvPr/>
        </p:nvSpPr>
        <p:spPr>
          <a:xfrm>
            <a:off x="5011560" y="3135240"/>
            <a:ext cx="2161800" cy="1447560"/>
          </a:xfrm>
          <a:custGeom>
            <a:avLst/>
            <a:gdLst/>
            <a:ahLst/>
            <a:rect l="0" t="0" r="r" b="b"/>
            <a:pathLst>
              <a:path w="6005" h="4021">
                <a:moveTo>
                  <a:pt x="0" y="0"/>
                </a:moveTo>
                <a:lnTo>
                  <a:pt x="6005" y="0"/>
                </a:lnTo>
                <a:lnTo>
                  <a:pt x="6005" y="4021"/>
                </a:lnTo>
                <a:lnTo>
                  <a:pt x="0" y="4021"/>
                </a:lnTo>
                <a:lnTo>
                  <a:pt x="0" y="0"/>
                </a:lnTo>
                <a:close/>
              </a:path>
            </a:pathLst>
          </a:custGeom>
          <a:noFill/>
          <a:ln w="10080">
            <a:solidFill>
              <a:srgbClr val="000000"/>
            </a:solidFill>
            <a:miter/>
          </a:ln>
        </p:spPr>
        <p:txBody>
          <a:bodyPr lIns="5040" tIns="5040" rIns="5040" bIns="504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"/>
          <p:cNvSpPr txBox="1"/>
          <p:nvPr/>
        </p:nvSpPr>
        <p:spPr>
          <a:xfrm>
            <a:off x="747720" y="2571840"/>
            <a:ext cx="614880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Here is a rectangle with a label, rendered via TikZ:</a:t>
            </a:r>
            <a:endParaRPr lang="en-GB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5626440" y="3741480"/>
            <a:ext cx="9097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44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Hello Marp!</a:t>
            </a:r>
            <a:endParaRPr lang="en-GB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 txBox="1"/>
          <p:nvPr/>
        </p:nvSpPr>
        <p:spPr>
          <a:xfrm>
            <a:off x="747720" y="4600440"/>
            <a:ext cx="757548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The diagram above should appear inline with this text content.</a:t>
            </a:r>
            <a:endParaRPr lang="en-GB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747720" y="1416240"/>
            <a:ext cx="6112800" cy="50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2830" b="1" u="none" strike="noStrike">
                <a:solidFill>
                  <a:srgbClr val="1F2328"/>
                </a:solidFill>
                <a:effectLst/>
                <a:uFillTx/>
                <a:latin typeface=".SFNS-Regular_wdth_opsz25B333_GRAD_wght2580000"/>
                <a:ea typeface=".SFNS-Regular_wdth_opsz25B333_GRAD_wght2580000"/>
              </a:rPr>
              <a:t>Mixed Content: Text + Diagram</a:t>
            </a:r>
            <a:endParaRPr lang="en-GB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"/>
          <p:cNvSpPr/>
          <p:nvPr/>
        </p:nvSpPr>
        <p:spPr>
          <a:xfrm>
            <a:off x="1066680" y="29048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6"/>
                  <a:pt x="36" y="205"/>
                </a:cubicBezTo>
                <a:cubicBezTo>
                  <a:pt x="25" y="193"/>
                  <a:pt x="16" y="181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4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"/>
          <p:cNvSpPr txBox="1"/>
          <p:nvPr/>
        </p:nvSpPr>
        <p:spPr>
          <a:xfrm>
            <a:off x="747720" y="2171520"/>
            <a:ext cx="490752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Some bullet points alongside a diagram:</a:t>
            </a:r>
            <a:endParaRPr lang="en-GB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1066680" y="33908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4" y="179"/>
                  <a:pt x="215" y="192"/>
                  <a:pt x="204" y="203"/>
                </a:cubicBezTo>
                <a:cubicBezTo>
                  <a:pt x="193" y="214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4"/>
                  <a:pt x="36" y="203"/>
                </a:cubicBezTo>
                <a:cubicBezTo>
                  <a:pt x="25" y="192"/>
                  <a:pt x="16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3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 txBox="1"/>
          <p:nvPr/>
        </p:nvSpPr>
        <p:spPr>
          <a:xfrm>
            <a:off x="1300320" y="2733840"/>
            <a:ext cx="364932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TikZ diagrams render as SVG</a:t>
            </a:r>
            <a:endParaRPr lang="en-GB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1066680" y="38764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5"/>
                  <a:pt x="36" y="204"/>
                </a:cubicBezTo>
                <a:cubicBezTo>
                  <a:pt x="25" y="193"/>
                  <a:pt x="16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4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1300320" y="3219480"/>
            <a:ext cx="392580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They should scale to fit the slide</a:t>
            </a:r>
            <a:endParaRPr lang="en-GB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3926160" y="4259160"/>
            <a:ext cx="722520" cy="723600"/>
          </a:xfrm>
          <a:custGeom>
            <a:avLst/>
            <a:gdLst/>
            <a:ahLst/>
            <a:rect l="0" t="0" r="r" b="b"/>
            <a:pathLst>
              <a:path w="2007" h="2010">
                <a:moveTo>
                  <a:pt x="2007" y="1005"/>
                </a:moveTo>
                <a:cubicBezTo>
                  <a:pt x="2007" y="450"/>
                  <a:pt x="1558" y="0"/>
                  <a:pt x="1004" y="0"/>
                </a:cubicBezTo>
                <a:cubicBezTo>
                  <a:pt x="450" y="0"/>
                  <a:pt x="0" y="450"/>
                  <a:pt x="0" y="1005"/>
                </a:cubicBezTo>
                <a:cubicBezTo>
                  <a:pt x="0" y="1560"/>
                  <a:pt x="450" y="2010"/>
                  <a:pt x="1004" y="2010"/>
                </a:cubicBezTo>
                <a:cubicBezTo>
                  <a:pt x="1558" y="2010"/>
                  <a:pt x="2007" y="1560"/>
                  <a:pt x="2007" y="1005"/>
                </a:cubicBezTo>
                <a:close/>
              </a:path>
            </a:pathLst>
          </a:custGeom>
          <a:noFill/>
          <a:ln w="10080">
            <a:solidFill>
              <a:srgbClr val="000000"/>
            </a:solidFill>
            <a:miter/>
          </a:ln>
        </p:spPr>
        <p:txBody>
          <a:bodyPr lIns="5040" tIns="5040" rIns="5040" bIns="504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300320" y="3705120"/>
            <a:ext cx="495324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Text before and after should look normal</a:t>
            </a:r>
            <a:endParaRPr lang="en-GB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7536600" y="4259160"/>
            <a:ext cx="722520" cy="723600"/>
          </a:xfrm>
          <a:custGeom>
            <a:avLst/>
            <a:gdLst/>
            <a:ahLst/>
            <a:rect l="0" t="0" r="r" b="b"/>
            <a:pathLst>
              <a:path w="2007" h="2010">
                <a:moveTo>
                  <a:pt x="2007" y="1005"/>
                </a:moveTo>
                <a:cubicBezTo>
                  <a:pt x="2007" y="450"/>
                  <a:pt x="1558" y="0"/>
                  <a:pt x="1004" y="0"/>
                </a:cubicBezTo>
                <a:cubicBezTo>
                  <a:pt x="450" y="0"/>
                  <a:pt x="0" y="450"/>
                  <a:pt x="0" y="1005"/>
                </a:cubicBezTo>
                <a:cubicBezTo>
                  <a:pt x="0" y="1560"/>
                  <a:pt x="450" y="2010"/>
                  <a:pt x="1004" y="2010"/>
                </a:cubicBezTo>
                <a:cubicBezTo>
                  <a:pt x="1558" y="2010"/>
                  <a:pt x="2007" y="1560"/>
                  <a:pt x="2007" y="1005"/>
                </a:cubicBezTo>
                <a:close/>
              </a:path>
            </a:pathLst>
          </a:custGeom>
          <a:noFill/>
          <a:ln w="10080">
            <a:solidFill>
              <a:srgbClr val="000000"/>
            </a:solidFill>
            <a:miter/>
          </a:ln>
        </p:spPr>
        <p:txBody>
          <a:bodyPr lIns="5040" tIns="5040" rIns="5040" bIns="504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4220280" y="4520520"/>
            <a:ext cx="182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44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</a:t>
            </a:r>
            <a:endParaRPr lang="en-GB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4653360" y="4620960"/>
            <a:ext cx="2865960" cy="0"/>
          </a:xfrm>
          <a:prstGeom prst="line">
            <a:avLst/>
          </a:prstGeom>
          <a:ln w="1512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7560" tIns="-7560" rIns="7560" bIns="-756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7494840" y="4588200"/>
            <a:ext cx="30960" cy="65520"/>
          </a:xfrm>
          <a:custGeom>
            <a:avLst/>
            <a:gdLst/>
            <a:ahLst/>
            <a:rect l="0" t="0" r="r" b="b"/>
            <a:pathLst>
              <a:path fill="none" w="86" h="182">
                <a:moveTo>
                  <a:pt x="0" y="0"/>
                </a:moveTo>
                <a:cubicBezTo>
                  <a:pt x="6" y="34"/>
                  <a:pt x="69" y="85"/>
                  <a:pt x="86" y="91"/>
                </a:cubicBezTo>
                <a:cubicBezTo>
                  <a:pt x="69" y="96"/>
                  <a:pt x="6" y="148"/>
                  <a:pt x="0" y="182"/>
                </a:cubicBezTo>
              </a:path>
            </a:pathLst>
          </a:custGeom>
          <a:ln cap="rnd" w="11880">
            <a:solidFill>
              <a:srgbClr val="000000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7834320" y="4520520"/>
            <a:ext cx="182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44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</a:t>
            </a:r>
            <a:endParaRPr lang="en-GB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5947560" y="4405320"/>
            <a:ext cx="2883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edge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747720" y="5000760"/>
            <a:ext cx="900108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This paragraph comes after the diagram. The layout should flow naturally.</a:t>
            </a:r>
            <a:endParaRPr lang="en-GB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747720" y="1883160"/>
            <a:ext cx="6334920" cy="50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2830" b="1" u="none" strike="noStrike">
                <a:solidFill>
                  <a:srgbClr val="1F2328"/>
                </a:solidFill>
                <a:effectLst/>
                <a:uFillTx/>
                <a:latin typeface=".SFNS-Regular_wdth_opsz25B333_GRAD_wght2580000"/>
                <a:ea typeface=".SFNS-Regular_wdth_opsz25B333_GRAD_wght2580000"/>
              </a:rPr>
              <a:t>Graph with Surrounding Context</a:t>
            </a:r>
            <a:endParaRPr lang="en-GB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"/>
          <p:cNvSpPr/>
          <p:nvPr/>
        </p:nvSpPr>
        <p:spPr>
          <a:xfrm>
            <a:off x="5421240" y="3182760"/>
            <a:ext cx="435600" cy="435960"/>
          </a:xfrm>
          <a:custGeom>
            <a:avLst/>
            <a:gdLst/>
            <a:ahLst/>
            <a:rect l="0" t="0" r="r" b="b"/>
            <a:pathLst>
              <a:path w="1210" h="1211">
                <a:moveTo>
                  <a:pt x="1210" y="606"/>
                </a:moveTo>
                <a:cubicBezTo>
                  <a:pt x="1210" y="272"/>
                  <a:pt x="940" y="0"/>
                  <a:pt x="606" y="0"/>
                </a:cubicBezTo>
                <a:cubicBezTo>
                  <a:pt x="272" y="0"/>
                  <a:pt x="0" y="272"/>
                  <a:pt x="0" y="606"/>
                </a:cubicBezTo>
                <a:cubicBezTo>
                  <a:pt x="0" y="940"/>
                  <a:pt x="272" y="1211"/>
                  <a:pt x="606" y="1211"/>
                </a:cubicBezTo>
                <a:cubicBezTo>
                  <a:pt x="940" y="1211"/>
                  <a:pt x="1210" y="940"/>
                  <a:pt x="1210" y="606"/>
                </a:cubicBezTo>
                <a:close/>
              </a:path>
            </a:pathLst>
          </a:custGeom>
          <a:noFill/>
          <a:ln w="10080">
            <a:solidFill>
              <a:srgbClr val="000000"/>
            </a:solidFill>
            <a:miter/>
          </a:ln>
        </p:spPr>
        <p:txBody>
          <a:bodyPr lIns="5040" tIns="5040" rIns="5040" bIns="504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"/>
          <p:cNvSpPr txBox="1"/>
          <p:nvPr/>
        </p:nvSpPr>
        <p:spPr>
          <a:xfrm>
            <a:off x="747720" y="2628720"/>
            <a:ext cx="414000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Below is a simple graph structure:</a:t>
            </a:r>
            <a:endParaRPr lang="en-GB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6328080" y="3182760"/>
            <a:ext cx="435960" cy="435960"/>
          </a:xfrm>
          <a:custGeom>
            <a:avLst/>
            <a:gdLst/>
            <a:ahLst/>
            <a:rect l="0" t="0" r="r" b="b"/>
            <a:pathLst>
              <a:path w="1211" h="1211">
                <a:moveTo>
                  <a:pt x="1211" y="606"/>
                </a:moveTo>
                <a:cubicBezTo>
                  <a:pt x="1211" y="272"/>
                  <a:pt x="939" y="0"/>
                  <a:pt x="605" y="0"/>
                </a:cubicBezTo>
                <a:cubicBezTo>
                  <a:pt x="271" y="0"/>
                  <a:pt x="0" y="272"/>
                  <a:pt x="0" y="606"/>
                </a:cubicBezTo>
                <a:cubicBezTo>
                  <a:pt x="0" y="940"/>
                  <a:pt x="271" y="1211"/>
                  <a:pt x="605" y="1211"/>
                </a:cubicBezTo>
                <a:cubicBezTo>
                  <a:pt x="939" y="1211"/>
                  <a:pt x="1211" y="940"/>
                  <a:pt x="1211" y="606"/>
                </a:cubicBezTo>
                <a:close/>
              </a:path>
            </a:pathLst>
          </a:custGeom>
          <a:noFill/>
          <a:ln w="10080">
            <a:solidFill>
              <a:srgbClr val="000000"/>
            </a:solidFill>
            <a:miter/>
          </a:ln>
        </p:spPr>
        <p:txBody>
          <a:bodyPr lIns="5040" tIns="5040" rIns="5040" bIns="504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 txBox="1"/>
          <p:nvPr/>
        </p:nvSpPr>
        <p:spPr>
          <a:xfrm>
            <a:off x="5594040" y="3296160"/>
            <a:ext cx="1832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4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</a:t>
            </a:r>
            <a:endParaRPr lang="en-GB" sz="14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5421240" y="4089960"/>
            <a:ext cx="435600" cy="435600"/>
          </a:xfrm>
          <a:custGeom>
            <a:avLst/>
            <a:gdLst/>
            <a:ahLst/>
            <a:rect l="0" t="0" r="r" b="b"/>
            <a:pathLst>
              <a:path w="1210" h="1210">
                <a:moveTo>
                  <a:pt x="1210" y="605"/>
                </a:moveTo>
                <a:cubicBezTo>
                  <a:pt x="1210" y="271"/>
                  <a:pt x="940" y="0"/>
                  <a:pt x="606" y="0"/>
                </a:cubicBezTo>
                <a:cubicBezTo>
                  <a:pt x="272" y="0"/>
                  <a:pt x="0" y="271"/>
                  <a:pt x="0" y="605"/>
                </a:cubicBezTo>
                <a:cubicBezTo>
                  <a:pt x="0" y="939"/>
                  <a:pt x="272" y="1210"/>
                  <a:pt x="606" y="1210"/>
                </a:cubicBezTo>
                <a:cubicBezTo>
                  <a:pt x="940" y="1210"/>
                  <a:pt x="1210" y="939"/>
                  <a:pt x="1210" y="605"/>
                </a:cubicBezTo>
                <a:close/>
              </a:path>
            </a:pathLst>
          </a:custGeom>
          <a:noFill/>
          <a:ln w="10080">
            <a:solidFill>
              <a:srgbClr val="000000"/>
            </a:solidFill>
            <a:miter/>
          </a:ln>
        </p:spPr>
        <p:txBody>
          <a:bodyPr lIns="5040" tIns="5040" rIns="5040" bIns="504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6501240" y="3296160"/>
            <a:ext cx="1832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4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endParaRPr lang="en-GB" sz="14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6328080" y="4089960"/>
            <a:ext cx="435960" cy="435600"/>
          </a:xfrm>
          <a:custGeom>
            <a:avLst/>
            <a:gdLst/>
            <a:ahLst/>
            <a:rect l="0" t="0" r="r" b="b"/>
            <a:pathLst>
              <a:path w="1211" h="1210">
                <a:moveTo>
                  <a:pt x="1211" y="605"/>
                </a:moveTo>
                <a:cubicBezTo>
                  <a:pt x="1211" y="271"/>
                  <a:pt x="939" y="0"/>
                  <a:pt x="605" y="0"/>
                </a:cubicBezTo>
                <a:cubicBezTo>
                  <a:pt x="271" y="0"/>
                  <a:pt x="0" y="271"/>
                  <a:pt x="0" y="605"/>
                </a:cubicBezTo>
                <a:cubicBezTo>
                  <a:pt x="0" y="939"/>
                  <a:pt x="271" y="1210"/>
                  <a:pt x="605" y="1210"/>
                </a:cubicBezTo>
                <a:cubicBezTo>
                  <a:pt x="939" y="1210"/>
                  <a:pt x="1211" y="939"/>
                  <a:pt x="1211" y="605"/>
                </a:cubicBezTo>
                <a:close/>
              </a:path>
            </a:pathLst>
          </a:custGeom>
          <a:noFill/>
          <a:ln w="10080">
            <a:solidFill>
              <a:srgbClr val="000000"/>
            </a:solidFill>
            <a:miter/>
          </a:ln>
        </p:spPr>
        <p:txBody>
          <a:bodyPr lIns="5040" tIns="5040" rIns="5040" bIns="504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5594040" y="4203360"/>
            <a:ext cx="1832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4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</a:t>
            </a:r>
            <a:endParaRPr lang="en-GB" sz="14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5639040" y="3400560"/>
            <a:ext cx="907200" cy="907200"/>
          </a:xfrm>
          <a:custGeom>
            <a:avLst/>
            <a:gdLst/>
            <a:ahLst/>
            <a:rect l="0" t="0" r="r" b="b"/>
            <a:pathLst>
              <a:path fill="none" w="2520" h="2520">
                <a:moveTo>
                  <a:pt x="618" y="0"/>
                </a:moveTo>
                <a:lnTo>
                  <a:pt x="1901" y="0"/>
                </a:lnTo>
                <a:moveTo>
                  <a:pt x="0" y="619"/>
                </a:moveTo>
                <a:lnTo>
                  <a:pt x="0" y="1901"/>
                </a:lnTo>
                <a:moveTo>
                  <a:pt x="2520" y="619"/>
                </a:moveTo>
                <a:lnTo>
                  <a:pt x="2520" y="1901"/>
                </a:lnTo>
                <a:moveTo>
                  <a:pt x="618" y="2520"/>
                </a:moveTo>
                <a:lnTo>
                  <a:pt x="1901" y="2520"/>
                </a:lnTo>
              </a:path>
            </a:pathLst>
          </a:custGeom>
          <a:ln w="10080">
            <a:solidFill>
              <a:srgbClr val="000000"/>
            </a:solidFill>
            <a:miter/>
          </a:ln>
        </p:spPr>
        <p:txBody>
          <a:bodyPr lIns="5040" tIns="5040" rIns="5040" bIns="504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6501240" y="4203360"/>
            <a:ext cx="1832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14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4</a:t>
            </a:r>
            <a:endParaRPr lang="en-GB" sz="14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747720" y="4543560"/>
            <a:ext cx="700632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GB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Key observations: </a:t>
            </a:r>
            <a:r>
              <a:rPr lang="en-GB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4 nodes, 4 edges, forming a cycle.</a:t>
            </a:r>
            <a:endParaRPr lang="en-GB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LibreOffice/26.2.1.2$MacOSX_AARCH64 LibreOffice_project/8399f6259d8c87f40e7255cdb3c9b958f5e08948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en-GB</dc:language>
  <cp:lastModifiedBy/>
  <cp:revision>0</cp:revision>
  <dc:subject/>
  <dc:title/>
</cp:coreProperties>
</file>